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568"/>
  </p:normalViewPr>
  <p:slideViewPr>
    <p:cSldViewPr snapToGrid="0" snapToObjects="1">
      <p:cViewPr varScale="1">
        <p:scale>
          <a:sx n="113" d="100"/>
          <a:sy n="113" d="100"/>
        </p:scale>
        <p:origin x="61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latin typeface="Yu Gothic"/>
                <a:ea typeface="Yu Gothic"/>
              </a:rPr>
              <a:t>LED 遅延（ジッタ）計測結果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latin typeface="Yu Gothic"/>
                <a:ea typeface="Yu Gothic"/>
              </a:rPr>
              <a:t>BPM 同期 LED の点灯タイミング誤差の分析</a:t>
            </a:r>
          </a:p>
          <a:p>
            <a:r>
              <a:rPr sz="1600" b="0">
                <a:latin typeface="Yu Gothic"/>
                <a:ea typeface="Yu Gothic"/>
              </a:rPr>
              <a:t>データ: jitter_log_*.csv 計 1,544 拍（2026-07-07〜07-08）</a:t>
            </a:r>
          </a:p>
          <a:p>
            <a:r>
              <a:rPr sz="1600" b="0">
                <a:latin typeface="Yu Gothic"/>
                <a:ea typeface="Yu Gothic"/>
              </a:rPr>
              <a:t>計測環境: Processing（draw() 60fps）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latin typeface="Yu Gothic"/>
                <a:ea typeface="Yu Gothic"/>
              </a:rPr>
              <a:t>全体サマリー（全 BPM 合計）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463040" y="1371600"/>
          <a:ext cx="9144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指標</a:t>
                      </a:r>
                      <a:endParaRPr sz="1600" b="1" dirty="0">
                        <a:solidFill>
                          <a:srgbClr val="FFFFFF"/>
                        </a:solidFill>
                        <a:latin typeface="Yu Gothic"/>
                        <a:ea typeface="Yu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値</a:t>
                      </a:r>
                      <a:endParaRPr sz="1600" b="1" dirty="0">
                        <a:solidFill>
                          <a:srgbClr val="FFFFFF"/>
                        </a:solidFill>
                        <a:latin typeface="Yu Gothic"/>
                        <a:ea typeface="Yu Gothi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0" dirty="0" err="1">
                          <a:latin typeface="Yu Gothic"/>
                          <a:ea typeface="Yu Gothic"/>
                        </a:rPr>
                        <a:t>サンプル数</a:t>
                      </a:r>
                      <a:endParaRPr sz="1600" b="0" dirty="0">
                        <a:latin typeface="Yu Gothic"/>
                        <a:ea typeface="Yu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latin typeface="Yu Gothic"/>
                          <a:ea typeface="Yu Gothic"/>
                        </a:rPr>
                        <a:t>1,544 拍（17 </a:t>
                      </a:r>
                      <a:r>
                        <a:rPr sz="1600" b="0" dirty="0" err="1">
                          <a:latin typeface="Yu Gothic"/>
                          <a:ea typeface="Yu Gothic"/>
                        </a:rPr>
                        <a:t>ファイル</a:t>
                      </a:r>
                      <a:r>
                        <a:rPr sz="1600" b="0" dirty="0">
                          <a:latin typeface="Yu Gothic"/>
                          <a:ea typeface="Yu Gothic"/>
                        </a:rPr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0" dirty="0" err="1">
                          <a:latin typeface="Yu Gothic"/>
                          <a:ea typeface="Yu Gothic"/>
                        </a:rPr>
                        <a:t>平均</a:t>
                      </a:r>
                      <a:endParaRPr sz="1600" b="0" dirty="0">
                        <a:latin typeface="Yu Gothic"/>
                        <a:ea typeface="Yu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latin typeface="Yu Gothic"/>
                          <a:ea typeface="Yu Gothic"/>
                        </a:rPr>
                        <a:t>+7.6 </a:t>
                      </a:r>
                      <a:r>
                        <a:rPr sz="1600" b="0" dirty="0" err="1">
                          <a:latin typeface="Yu Gothic"/>
                          <a:ea typeface="Yu Gothic"/>
                        </a:rPr>
                        <a:t>ms</a:t>
                      </a:r>
                      <a:endParaRPr sz="1600" b="0" dirty="0">
                        <a:latin typeface="Yu Gothic"/>
                        <a:ea typeface="Yu Gothi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0" dirty="0" err="1">
                          <a:latin typeface="Yu Gothic"/>
                          <a:ea typeface="Yu Gothic"/>
                        </a:rPr>
                        <a:t>標準偏差</a:t>
                      </a:r>
                      <a:endParaRPr sz="1600" b="0" dirty="0">
                        <a:latin typeface="Yu Gothic"/>
                        <a:ea typeface="Yu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latin typeface="Yu Gothic"/>
                          <a:ea typeface="Yu Gothic"/>
                        </a:rPr>
                        <a:t>3.1 </a:t>
                      </a:r>
                      <a:r>
                        <a:rPr sz="1600" b="0" dirty="0" err="1">
                          <a:latin typeface="Yu Gothic"/>
                          <a:ea typeface="Yu Gothic"/>
                        </a:rPr>
                        <a:t>ms</a:t>
                      </a:r>
                      <a:endParaRPr sz="1600" b="0" dirty="0">
                        <a:latin typeface="Yu Gothic"/>
                        <a:ea typeface="Yu Gothi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0" dirty="0" err="1">
                          <a:latin typeface="Yu Gothic"/>
                          <a:ea typeface="Yu Gothic"/>
                        </a:rPr>
                        <a:t>最小</a:t>
                      </a:r>
                      <a:r>
                        <a:rPr sz="1600" b="0" dirty="0">
                          <a:latin typeface="Yu Gothic"/>
                          <a:ea typeface="Yu Gothic"/>
                        </a:rPr>
                        <a:t> / </a:t>
                      </a:r>
                      <a:r>
                        <a:rPr sz="1600" b="0" dirty="0" err="1">
                          <a:latin typeface="Yu Gothic"/>
                          <a:ea typeface="Yu Gothic"/>
                        </a:rPr>
                        <a:t>最大</a:t>
                      </a:r>
                      <a:endParaRPr sz="1600" b="0" dirty="0">
                        <a:latin typeface="Yu Gothic"/>
                        <a:ea typeface="Yu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latin typeface="Yu Gothic"/>
                          <a:ea typeface="Yu Gothic"/>
                        </a:rPr>
                        <a:t>0 </a:t>
                      </a:r>
                      <a:r>
                        <a:rPr sz="1600" b="0" dirty="0" err="1">
                          <a:latin typeface="Yu Gothic"/>
                          <a:ea typeface="Yu Gothic"/>
                        </a:rPr>
                        <a:t>ms</a:t>
                      </a:r>
                      <a:r>
                        <a:rPr sz="1600" b="0" dirty="0">
                          <a:latin typeface="Yu Gothic"/>
                          <a:ea typeface="Yu Gothic"/>
                        </a:rPr>
                        <a:t> / +20 </a:t>
                      </a:r>
                      <a:r>
                        <a:rPr sz="1600" b="0" dirty="0" err="1">
                          <a:latin typeface="Yu Gothic"/>
                          <a:ea typeface="Yu Gothic"/>
                        </a:rPr>
                        <a:t>ms</a:t>
                      </a:r>
                      <a:endParaRPr sz="1600" b="0" dirty="0">
                        <a:latin typeface="Yu Gothic"/>
                        <a:ea typeface="Yu Gothi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latin typeface="Yu Gothic"/>
                          <a:ea typeface="Yu Gothic"/>
                        </a:rPr>
                        <a:t>95 </a:t>
                      </a:r>
                      <a:r>
                        <a:rPr sz="1600" b="0" dirty="0" err="1">
                          <a:latin typeface="Yu Gothic"/>
                          <a:ea typeface="Yu Gothic"/>
                        </a:rPr>
                        <a:t>パーセンタイル（絶対値</a:t>
                      </a:r>
                      <a:r>
                        <a:rPr sz="1600" b="0" dirty="0">
                          <a:latin typeface="Yu Gothic"/>
                          <a:ea typeface="Yu Gothic"/>
                        </a:rPr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latin typeface="Yu Gothic"/>
                          <a:ea typeface="Yu Gothic"/>
                        </a:rPr>
                        <a:t>12 </a:t>
                      </a:r>
                      <a:r>
                        <a:rPr sz="1600" b="0" dirty="0" err="1">
                          <a:latin typeface="Yu Gothic"/>
                          <a:ea typeface="Yu Gothic"/>
                        </a:rPr>
                        <a:t>ms</a:t>
                      </a:r>
                      <a:endParaRPr sz="1600" b="0" dirty="0">
                        <a:latin typeface="Yu Gothic"/>
                        <a:ea typeface="Yu Gothi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463040" y="512064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latin typeface="Yu Gothic"/>
                <a:ea typeface="Yu Gothic"/>
              </a:rPr>
              <a:t>・負のジッタ（早く点灯）は 0 件 — ズレは常に遅れ方向</a:t>
            </a:r>
          </a:p>
          <a:p>
            <a:r>
              <a:rPr sz="1600" b="0">
                <a:latin typeface="Yu Gothic"/>
                <a:ea typeface="Yu Gothic"/>
              </a:rPr>
              <a:t>・約 70% が 6〜10 ms に集中。同期ズレの知覚閾値（20〜30 ms）未満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latin typeface="Yu Gothic"/>
                <a:ea typeface="Yu Gothic"/>
              </a:rPr>
              <a:t>BPM 別統計 と 60fps 量子化の理論値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143000"/>
          <a:ext cx="109728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BPM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拍間隔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拍数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平均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標準偏差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最大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p95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理論値*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latin typeface="Yu Gothic"/>
                          <a:ea typeface="Yu Gothic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1500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+2.5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2.2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9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9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0.0 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latin typeface="Yu Gothic"/>
                          <a:ea typeface="Yu Gothic"/>
                        </a:rP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1132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+3.4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3.5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16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9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1.3 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latin typeface="Yu Gothic"/>
                          <a:ea typeface="Yu Gothic"/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1000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+4.0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4.5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20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16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0.0 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latin typeface="Yu Gothic"/>
                          <a:ea typeface="Yu Gothic"/>
                        </a:rP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909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1,201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+8.6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2.1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17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12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7.7 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latin typeface="Yu Gothic"/>
                          <a:ea typeface="Yu Gothic"/>
                        </a:rPr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759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+8.2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1.7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15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11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7.7 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latin typeface="Yu Gothic"/>
                          <a:ea typeface="Yu Gothic"/>
                        </a:rP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750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+1.5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0.5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2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2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0.0 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latin typeface="Yu Gothic"/>
                          <a:ea typeface="Yu Gothic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600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+1.6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2.2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7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7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0.0 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latin typeface="Yu Gothic"/>
                          <a:ea typeface="Yu Gothic"/>
                        </a:rP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582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+2.0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1.3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8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4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Yu Gothic"/>
                          <a:ea typeface="Yu Gothic"/>
                        </a:rPr>
                        <a:t>1.3 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486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latin typeface="Yu Gothic"/>
                <a:ea typeface="Yu Gothic"/>
              </a:rPr>
              <a:t>* 理論値 = 拍間隔を 16.7 ms（60fps のフレーム周期）で割った余りから予測されるジッタ</a:t>
            </a:r>
          </a:p>
          <a:p>
            <a:r>
              <a:rPr sz="1600" b="1">
                <a:latin typeface="Yu Gothic"/>
                <a:ea typeface="Yu Gothic"/>
              </a:rPr>
              <a:t>全 BPM で実測平均が理論値 +1〜4 ms に一致 → 誤差の主因は draw() の 60fps 量子化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latin typeface="Yu Gothic"/>
                <a:ea typeface="Yu Gothic"/>
              </a:rPr>
              <a:t>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latin typeface="Yu Gothic"/>
                <a:ea typeface="Yu Gothic"/>
              </a:rPr>
              <a:t>1 拍ごとのズレは 0〜20 ms・95% は 12 ms 以内 — 知覚閾値（20〜30 ms）未満</a:t>
            </a:r>
          </a:p>
          <a:p>
            <a:r>
              <a:rPr sz="1800" b="0">
                <a:latin typeface="Yu Gothic"/>
                <a:ea typeface="Yu Gothic"/>
              </a:rPr>
              <a:t>ズレは全件が遅れ方向で、BPM 別平均は理論値と一致 — 原因は draw() の 60fps 量子化</a:t>
            </a:r>
          </a:p>
          <a:p>
            <a:r>
              <a:rPr sz="1800" b="0">
                <a:latin typeface="Yu Gothic"/>
                <a:ea typeface="Yu Gothic"/>
              </a:rPr>
              <a:t>測定環境（Processing）由来の誤差であり、loop() が高速に回る実機 Arduino の LED はこれより正確</a:t>
            </a:r>
          </a:p>
          <a:p>
            <a:r>
              <a:rPr sz="1800" b="0">
                <a:latin typeface="Yu Gothic"/>
                <a:ea typeface="Yu Gothic"/>
              </a:rPr>
              <a:t>注意: ドリフト型更新のため遅れは毎拍累積する（BPM 66 で 1 分あたり約 0.5 秒）</a:t>
            </a:r>
          </a:p>
          <a:p>
            <a:endParaRPr sz="1800" b="0">
              <a:latin typeface="Yu Gothic"/>
              <a:ea typeface="Yu Gothic"/>
            </a:endParaRPr>
          </a:p>
          <a:p>
            <a:r>
              <a:rPr sz="1800" b="1">
                <a:latin typeface="Yu Gothic"/>
                <a:ea typeface="Yu Gothic"/>
              </a:rPr>
              <a:t>改善案</a:t>
            </a:r>
          </a:p>
          <a:p>
            <a:r>
              <a:rPr sz="1600" b="0">
                <a:latin typeface="Yu Gothic"/>
                <a:ea typeface="Yu Gothic"/>
              </a:rPr>
              <a:t>① 実 LED も理想時刻基準（prevMillis += interval）で更新 → 累積を根本解消</a:t>
            </a:r>
          </a:p>
          <a:p>
            <a:r>
              <a:rPr sz="1600" b="0">
                <a:latin typeface="Yu Gothic"/>
                <a:ea typeface="Yu Gothic"/>
              </a:rPr>
              <a:t>② frameRate(240) を指定 → 時間分解能 16.7 ms → 4.2 ms（単発・累積とも約 1/4）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A65B2-8645-24E5-2A72-15AF64C74157}"/>
              </a:ext>
            </a:extLst>
          </p:cNvPr>
          <p:cNvSpPr>
            <a:spLocks noGrp="1"/>
          </p:cNvSpPr>
          <p:nvPr/>
        </p:nvSpPr>
        <p:spPr>
          <a:xfrm>
            <a:off x="1356345" y="155413"/>
            <a:ext cx="10058400" cy="7023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b="1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>
                <a:ea typeface="ＭＳ Ｐゴシック"/>
              </a:rPr>
              <a:t>考察</a:t>
            </a:r>
            <a:r>
              <a:rPr lang="ja-JP"/>
              <a:t>ー</a:t>
            </a:r>
            <a:r>
              <a:rPr lang="ja-JP">
                <a:latin typeface="MS PGothic"/>
                <a:ea typeface="MS PGothic"/>
              </a:rPr>
              <a:t>LEDの点灯・輝度制御</a:t>
            </a:r>
            <a:endParaRPr lang="ja-JP">
              <a:solidFill>
                <a:srgbClr val="000000"/>
              </a:solidFill>
              <a:latin typeface="MS PGothic"/>
              <a:ea typeface="MS PGothic"/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28F3691-4775-C285-E081-2BB776E801FD}"/>
              </a:ext>
            </a:extLst>
          </p:cNvPr>
          <p:cNvSpPr>
            <a:spLocks noGrp="1"/>
          </p:cNvSpPr>
          <p:nvPr/>
        </p:nvSpPr>
        <p:spPr>
          <a:xfrm>
            <a:off x="7486776" y="633746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20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25G1039　</a:t>
            </a:r>
            <a:r>
              <a:rPr lang="ja-JP" altLang="en-US"/>
              <a:t>川瀬瑠音</a:t>
            </a:r>
            <a:endParaRPr lang="en-US"/>
          </a:p>
        </p:txBody>
      </p:sp>
      <p:sp>
        <p:nvSpPr>
          <p:cNvPr id="4" name="TextBox 12">
            <a:extLst>
              <a:ext uri="{FF2B5EF4-FFF2-40B4-BE49-F238E27FC236}">
                <a16:creationId xmlns:a16="http://schemas.microsoft.com/office/drawing/2014/main" id="{3668F289-CEE7-A251-49D3-5725FCE68BD9}"/>
              </a:ext>
            </a:extLst>
          </p:cNvPr>
          <p:cNvSpPr txBox="1"/>
          <p:nvPr/>
        </p:nvSpPr>
        <p:spPr>
          <a:xfrm>
            <a:off x="4829890" y="1208841"/>
            <a:ext cx="6771686" cy="120032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3600" b="0" i="0" u="none" strike="noStrike" baseline="0">
                <a:solidFill>
                  <a:srgbClr val="404040"/>
                </a:solidFill>
                <a:latin typeface="+mn-ea"/>
              </a:rPr>
              <a:t>今回の検証で点灯遅延が</a:t>
            </a:r>
            <a:r>
              <a:rPr lang="en-US" altLang="ja-JP" sz="3600" b="0" i="0" u="none" strike="noStrike" baseline="0">
                <a:solidFill>
                  <a:srgbClr val="404040"/>
                </a:solidFill>
                <a:latin typeface="+mn-ea"/>
              </a:rPr>
              <a:t>45ms</a:t>
            </a:r>
          </a:p>
          <a:p>
            <a:r>
              <a:rPr lang="ja-JP" altLang="en-US" sz="3600" b="0" i="0" u="none" strike="noStrike" baseline="0">
                <a:solidFill>
                  <a:srgbClr val="404040"/>
                </a:solidFill>
                <a:latin typeface="+mn-ea"/>
              </a:rPr>
              <a:t>以内に</a:t>
            </a:r>
            <a:r>
              <a:rPr lang="ja-JP" altLang="en-US" sz="3600">
                <a:solidFill>
                  <a:srgbClr val="404040"/>
                </a:solidFill>
                <a:latin typeface="+mn-ea"/>
              </a:rPr>
              <a:t>収まる</a:t>
            </a:r>
            <a:r>
              <a:rPr lang="ja-JP" altLang="en-US" sz="3600" b="0" i="0" u="none" strike="noStrike" baseline="0">
                <a:solidFill>
                  <a:srgbClr val="404040"/>
                </a:solidFill>
                <a:latin typeface="+mn-ea"/>
              </a:rPr>
              <a:t>ことが確認された．</a:t>
            </a:r>
            <a:endParaRPr lang="en-US" altLang="ja-JP" sz="3600">
              <a:solidFill>
                <a:srgbClr val="404040"/>
              </a:solidFill>
              <a:latin typeface="+mn-ea"/>
            </a:endParaRPr>
          </a:p>
        </p:txBody>
      </p:sp>
      <p:sp>
        <p:nvSpPr>
          <p:cNvPr id="5" name="Rectangle: Rounded Corners 7">
            <a:extLst>
              <a:ext uri="{FF2B5EF4-FFF2-40B4-BE49-F238E27FC236}">
                <a16:creationId xmlns:a16="http://schemas.microsoft.com/office/drawing/2014/main" id="{3F05BA43-DB1C-BEAF-D93C-E45131263D61}"/>
              </a:ext>
            </a:extLst>
          </p:cNvPr>
          <p:cNvSpPr/>
          <p:nvPr/>
        </p:nvSpPr>
        <p:spPr>
          <a:xfrm>
            <a:off x="994146" y="1255649"/>
            <a:ext cx="3236685" cy="110671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3600" b="1">
                <a:solidFill>
                  <a:srgbClr val="000000"/>
                </a:solidFill>
                <a:ea typeface="ＭＳ Ｐゴシック"/>
                <a:cs typeface="Calibri"/>
              </a:rPr>
              <a:t>点灯遅延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0E7F769-2598-2D34-1D6F-BAD5A3521A90}"/>
              </a:ext>
            </a:extLst>
          </p:cNvPr>
          <p:cNvSpPr/>
          <p:nvPr/>
        </p:nvSpPr>
        <p:spPr>
          <a:xfrm>
            <a:off x="674682" y="2640412"/>
            <a:ext cx="2154476" cy="1415442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80FB7A1-B261-4BF4-57D3-BD4094A6774F}"/>
              </a:ext>
            </a:extLst>
          </p:cNvPr>
          <p:cNvSpPr/>
          <p:nvPr/>
        </p:nvSpPr>
        <p:spPr>
          <a:xfrm>
            <a:off x="1754682" y="3180412"/>
            <a:ext cx="2154476" cy="1415442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936AD53-3B36-7456-0667-20D434F3ED94}"/>
              </a:ext>
            </a:extLst>
          </p:cNvPr>
          <p:cNvSpPr/>
          <p:nvPr/>
        </p:nvSpPr>
        <p:spPr>
          <a:xfrm>
            <a:off x="2834682" y="3720412"/>
            <a:ext cx="2154476" cy="1415442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14E32ED-5935-7690-ACED-C7DC1C856F68}"/>
              </a:ext>
            </a:extLst>
          </p:cNvPr>
          <p:cNvSpPr/>
          <p:nvPr/>
        </p:nvSpPr>
        <p:spPr>
          <a:xfrm>
            <a:off x="3914682" y="4260412"/>
            <a:ext cx="2154476" cy="1415442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EC1ECE1-856C-3557-EC4B-0E35B1A494F0}"/>
              </a:ext>
            </a:extLst>
          </p:cNvPr>
          <p:cNvSpPr/>
          <p:nvPr/>
        </p:nvSpPr>
        <p:spPr>
          <a:xfrm>
            <a:off x="4994682" y="4800412"/>
            <a:ext cx="2154476" cy="1415442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/>
          </a:p>
        </p:txBody>
      </p:sp>
      <p:sp>
        <p:nvSpPr>
          <p:cNvPr id="11" name="左右矢印 10">
            <a:extLst>
              <a:ext uri="{FF2B5EF4-FFF2-40B4-BE49-F238E27FC236}">
                <a16:creationId xmlns:a16="http://schemas.microsoft.com/office/drawing/2014/main" id="{EB1C4D45-9DA6-62D2-2C0A-4ADA84F0414E}"/>
              </a:ext>
            </a:extLst>
          </p:cNvPr>
          <p:cNvSpPr/>
          <p:nvPr/>
        </p:nvSpPr>
        <p:spPr>
          <a:xfrm rot="1646620">
            <a:off x="590424" y="2816655"/>
            <a:ext cx="1248517" cy="258306"/>
          </a:xfrm>
          <a:prstGeom prst="leftRightArrow">
            <a:avLst>
              <a:gd name="adj1" fmla="val 34906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/>
          </a:p>
        </p:txBody>
      </p:sp>
      <p:sp>
        <p:nvSpPr>
          <p:cNvPr id="12" name="左右矢印 11">
            <a:extLst>
              <a:ext uri="{FF2B5EF4-FFF2-40B4-BE49-F238E27FC236}">
                <a16:creationId xmlns:a16="http://schemas.microsoft.com/office/drawing/2014/main" id="{47CA5F07-1D9F-0E4F-79D5-D3E40AA780C1}"/>
              </a:ext>
            </a:extLst>
          </p:cNvPr>
          <p:cNvSpPr/>
          <p:nvPr/>
        </p:nvSpPr>
        <p:spPr>
          <a:xfrm rot="1646620">
            <a:off x="1670424" y="3356656"/>
            <a:ext cx="1248517" cy="258306"/>
          </a:xfrm>
          <a:prstGeom prst="leftRightArrow">
            <a:avLst>
              <a:gd name="adj1" fmla="val 34906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/>
          </a:p>
        </p:txBody>
      </p:sp>
      <p:sp>
        <p:nvSpPr>
          <p:cNvPr id="13" name="左右矢印 12">
            <a:extLst>
              <a:ext uri="{FF2B5EF4-FFF2-40B4-BE49-F238E27FC236}">
                <a16:creationId xmlns:a16="http://schemas.microsoft.com/office/drawing/2014/main" id="{7AFF1B03-56A9-856F-AB9C-9E936BF33CA3}"/>
              </a:ext>
            </a:extLst>
          </p:cNvPr>
          <p:cNvSpPr/>
          <p:nvPr/>
        </p:nvSpPr>
        <p:spPr>
          <a:xfrm rot="1646620">
            <a:off x="2744900" y="3896656"/>
            <a:ext cx="1248517" cy="258306"/>
          </a:xfrm>
          <a:prstGeom prst="leftRightArrow">
            <a:avLst>
              <a:gd name="adj1" fmla="val 34906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/>
          </a:p>
        </p:txBody>
      </p:sp>
      <p:sp>
        <p:nvSpPr>
          <p:cNvPr id="14" name="左右矢印 13">
            <a:extLst>
              <a:ext uri="{FF2B5EF4-FFF2-40B4-BE49-F238E27FC236}">
                <a16:creationId xmlns:a16="http://schemas.microsoft.com/office/drawing/2014/main" id="{57DD8587-DC9A-7E18-7B0A-98EB86C3B18F}"/>
              </a:ext>
            </a:extLst>
          </p:cNvPr>
          <p:cNvSpPr/>
          <p:nvPr/>
        </p:nvSpPr>
        <p:spPr>
          <a:xfrm rot="1646620">
            <a:off x="3861665" y="4461201"/>
            <a:ext cx="1248517" cy="258306"/>
          </a:xfrm>
          <a:prstGeom prst="leftRightArrow">
            <a:avLst>
              <a:gd name="adj1" fmla="val 34906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/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3C768109-CB9F-51EA-89A4-F76CEC3C26F9}"/>
              </a:ext>
            </a:extLst>
          </p:cNvPr>
          <p:cNvSpPr txBox="1"/>
          <p:nvPr/>
        </p:nvSpPr>
        <p:spPr>
          <a:xfrm>
            <a:off x="613638" y="4660518"/>
            <a:ext cx="1812503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2000">
                <a:latin typeface="+mn-ea"/>
              </a:rPr>
              <a:t>Processing</a:t>
            </a:r>
          </a:p>
          <a:p>
            <a:pPr algn="ctr"/>
            <a:r>
              <a:rPr lang="en-US" altLang="ja-JP" sz="2000">
                <a:latin typeface="+mn-ea"/>
              </a:rPr>
              <a:t>d</a:t>
            </a:r>
            <a:r>
              <a:rPr lang="en-US" altLang="ja-JP" sz="2000" b="0" i="0" u="none" strike="noStrike" baseline="0">
                <a:latin typeface="+mn-ea"/>
              </a:rPr>
              <a:t>raw()</a:t>
            </a:r>
            <a:endParaRPr lang="en-US" altLang="ja-JP" sz="2000">
              <a:latin typeface="+mn-ea"/>
            </a:endParaRP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C5EC6189-16E1-8E2D-DEF2-F9BBDA16A6EB}"/>
              </a:ext>
            </a:extLst>
          </p:cNvPr>
          <p:cNvSpPr txBox="1"/>
          <p:nvPr/>
        </p:nvSpPr>
        <p:spPr>
          <a:xfrm>
            <a:off x="3982690" y="4671151"/>
            <a:ext cx="922200" cy="400110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2000">
                <a:latin typeface="+mn-ea"/>
              </a:rPr>
              <a:t>60fps</a:t>
            </a: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22632EEA-22E3-C2E6-B796-B257D5423EF8}"/>
              </a:ext>
            </a:extLst>
          </p:cNvPr>
          <p:cNvSpPr txBox="1"/>
          <p:nvPr/>
        </p:nvSpPr>
        <p:spPr>
          <a:xfrm>
            <a:off x="2883141" y="4106144"/>
            <a:ext cx="922200" cy="400110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2000">
                <a:latin typeface="+mn-ea"/>
              </a:rPr>
              <a:t>60fps</a:t>
            </a:r>
          </a:p>
        </p:txBody>
      </p:sp>
      <p:sp>
        <p:nvSpPr>
          <p:cNvPr id="18" name="TextBox 12">
            <a:extLst>
              <a:ext uri="{FF2B5EF4-FFF2-40B4-BE49-F238E27FC236}">
                <a16:creationId xmlns:a16="http://schemas.microsoft.com/office/drawing/2014/main" id="{BF308364-4B3E-748B-2E70-32F51224DEE3}"/>
              </a:ext>
            </a:extLst>
          </p:cNvPr>
          <p:cNvSpPr txBox="1"/>
          <p:nvPr/>
        </p:nvSpPr>
        <p:spPr>
          <a:xfrm>
            <a:off x="1812360" y="3555848"/>
            <a:ext cx="922200" cy="400110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2000">
                <a:latin typeface="+mn-ea"/>
              </a:rPr>
              <a:t>60fps</a:t>
            </a:r>
          </a:p>
        </p:txBody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id="{5F514321-31F5-BF7C-DACE-DFFE64C1AC63}"/>
              </a:ext>
            </a:extLst>
          </p:cNvPr>
          <p:cNvSpPr txBox="1"/>
          <p:nvPr/>
        </p:nvSpPr>
        <p:spPr>
          <a:xfrm>
            <a:off x="660712" y="3015540"/>
            <a:ext cx="922200" cy="400110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2000">
                <a:latin typeface="+mn-ea"/>
              </a:rPr>
              <a:t>60fps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C4913AC9-6F91-AE4B-D837-AEF3FA0143F2}"/>
              </a:ext>
            </a:extLst>
          </p:cNvPr>
          <p:cNvSpPr/>
          <p:nvPr/>
        </p:nvSpPr>
        <p:spPr>
          <a:xfrm>
            <a:off x="2311486" y="2760297"/>
            <a:ext cx="1182405" cy="69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B46CA252-5730-AB06-60B9-3998B6112673}"/>
              </a:ext>
            </a:extLst>
          </p:cNvPr>
          <p:cNvSpPr/>
          <p:nvPr/>
        </p:nvSpPr>
        <p:spPr>
          <a:xfrm>
            <a:off x="3380451" y="3378561"/>
            <a:ext cx="1182405" cy="69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FB8E5590-9A5C-7305-F672-EB917D9089A2}"/>
              </a:ext>
            </a:extLst>
          </p:cNvPr>
          <p:cNvSpPr/>
          <p:nvPr/>
        </p:nvSpPr>
        <p:spPr>
          <a:xfrm>
            <a:off x="4562856" y="3980623"/>
            <a:ext cx="1182405" cy="69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DC538383-410A-3DF9-403F-5C4B06DCB886}"/>
              </a:ext>
            </a:extLst>
          </p:cNvPr>
          <p:cNvSpPr/>
          <p:nvPr/>
        </p:nvSpPr>
        <p:spPr>
          <a:xfrm>
            <a:off x="5669724" y="4590786"/>
            <a:ext cx="1182405" cy="69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/>
          </a:p>
        </p:txBody>
      </p:sp>
      <p:sp>
        <p:nvSpPr>
          <p:cNvPr id="24" name="左右矢印 23">
            <a:extLst>
              <a:ext uri="{FF2B5EF4-FFF2-40B4-BE49-F238E27FC236}">
                <a16:creationId xmlns:a16="http://schemas.microsoft.com/office/drawing/2014/main" id="{359C419C-8A5C-F28E-4623-85B94324C8C7}"/>
              </a:ext>
            </a:extLst>
          </p:cNvPr>
          <p:cNvSpPr/>
          <p:nvPr/>
        </p:nvSpPr>
        <p:spPr>
          <a:xfrm rot="1646620">
            <a:off x="3333540" y="2861026"/>
            <a:ext cx="642404" cy="258306"/>
          </a:xfrm>
          <a:prstGeom prst="leftRightArrow">
            <a:avLst>
              <a:gd name="adj1" fmla="val 34906"/>
              <a:gd name="adj2" fmla="val 50000"/>
            </a:avLst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/>
          </a:p>
        </p:txBody>
      </p:sp>
      <p:sp>
        <p:nvSpPr>
          <p:cNvPr id="25" name="左右矢印 24">
            <a:extLst>
              <a:ext uri="{FF2B5EF4-FFF2-40B4-BE49-F238E27FC236}">
                <a16:creationId xmlns:a16="http://schemas.microsoft.com/office/drawing/2014/main" id="{51F8A521-4253-4BA9-CC5A-E26E333BF5BB}"/>
              </a:ext>
            </a:extLst>
          </p:cNvPr>
          <p:cNvSpPr/>
          <p:nvPr/>
        </p:nvSpPr>
        <p:spPr>
          <a:xfrm rot="1646620">
            <a:off x="4394642" y="3452758"/>
            <a:ext cx="642404" cy="258306"/>
          </a:xfrm>
          <a:prstGeom prst="leftRightArrow">
            <a:avLst>
              <a:gd name="adj1" fmla="val 34906"/>
              <a:gd name="adj2" fmla="val 50000"/>
            </a:avLst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/>
          </a:p>
        </p:txBody>
      </p:sp>
      <p:sp>
        <p:nvSpPr>
          <p:cNvPr id="26" name="左右矢印 25">
            <a:extLst>
              <a:ext uri="{FF2B5EF4-FFF2-40B4-BE49-F238E27FC236}">
                <a16:creationId xmlns:a16="http://schemas.microsoft.com/office/drawing/2014/main" id="{302F1CB2-E8FE-5BBA-AAF6-DFCB6A38BDA0}"/>
              </a:ext>
            </a:extLst>
          </p:cNvPr>
          <p:cNvSpPr/>
          <p:nvPr/>
        </p:nvSpPr>
        <p:spPr>
          <a:xfrm rot="1646620">
            <a:off x="5471384" y="4026237"/>
            <a:ext cx="642404" cy="258306"/>
          </a:xfrm>
          <a:prstGeom prst="leftRightArrow">
            <a:avLst>
              <a:gd name="adj1" fmla="val 34906"/>
              <a:gd name="adj2" fmla="val 50000"/>
            </a:avLst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/>
          </a:p>
        </p:txBody>
      </p:sp>
      <p:sp>
        <p:nvSpPr>
          <p:cNvPr id="27" name="左右矢印 26">
            <a:extLst>
              <a:ext uri="{FF2B5EF4-FFF2-40B4-BE49-F238E27FC236}">
                <a16:creationId xmlns:a16="http://schemas.microsoft.com/office/drawing/2014/main" id="{37F197F5-E734-D1E7-C379-4E0074D08232}"/>
              </a:ext>
            </a:extLst>
          </p:cNvPr>
          <p:cNvSpPr/>
          <p:nvPr/>
        </p:nvSpPr>
        <p:spPr>
          <a:xfrm rot="1646620">
            <a:off x="6769200" y="4545363"/>
            <a:ext cx="418785" cy="258306"/>
          </a:xfrm>
          <a:prstGeom prst="leftRightArrow">
            <a:avLst>
              <a:gd name="adj1" fmla="val 34906"/>
              <a:gd name="adj2" fmla="val 50000"/>
            </a:avLst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/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B70254D3-61D3-E9A6-51E8-C76516D357B3}"/>
              </a:ext>
            </a:extLst>
          </p:cNvPr>
          <p:cNvSpPr txBox="1"/>
          <p:nvPr/>
        </p:nvSpPr>
        <p:spPr>
          <a:xfrm>
            <a:off x="3584887" y="2620629"/>
            <a:ext cx="922200" cy="400110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2000">
                <a:latin typeface="+mn-ea"/>
              </a:rPr>
              <a:t>誤差</a:t>
            </a:r>
            <a:endParaRPr lang="en-US" altLang="ja-JP" sz="2000">
              <a:latin typeface="+mn-ea"/>
            </a:endParaRPr>
          </a:p>
        </p:txBody>
      </p:sp>
      <p:sp>
        <p:nvSpPr>
          <p:cNvPr id="29" name="TextBox 12">
            <a:extLst>
              <a:ext uri="{FF2B5EF4-FFF2-40B4-BE49-F238E27FC236}">
                <a16:creationId xmlns:a16="http://schemas.microsoft.com/office/drawing/2014/main" id="{CFA1F570-C77F-8DE8-41BB-D6E3E11A4AC4}"/>
              </a:ext>
            </a:extLst>
          </p:cNvPr>
          <p:cNvSpPr txBox="1"/>
          <p:nvPr/>
        </p:nvSpPr>
        <p:spPr>
          <a:xfrm>
            <a:off x="5707862" y="3761546"/>
            <a:ext cx="922200" cy="400110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2000">
                <a:latin typeface="+mn-ea"/>
              </a:rPr>
              <a:t>誤差</a:t>
            </a:r>
            <a:endParaRPr lang="en-US" altLang="ja-JP" sz="2000">
              <a:latin typeface="+mn-ea"/>
            </a:endParaRPr>
          </a:p>
        </p:txBody>
      </p:sp>
      <p:sp>
        <p:nvSpPr>
          <p:cNvPr id="30" name="TextBox 12">
            <a:extLst>
              <a:ext uri="{FF2B5EF4-FFF2-40B4-BE49-F238E27FC236}">
                <a16:creationId xmlns:a16="http://schemas.microsoft.com/office/drawing/2014/main" id="{0670D85B-C6CE-0F30-2DBA-3322886D9C09}"/>
              </a:ext>
            </a:extLst>
          </p:cNvPr>
          <p:cNvSpPr txBox="1"/>
          <p:nvPr/>
        </p:nvSpPr>
        <p:spPr>
          <a:xfrm>
            <a:off x="4850085" y="3367444"/>
            <a:ext cx="922200" cy="400110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2000">
                <a:latin typeface="+mn-ea"/>
              </a:rPr>
              <a:t>誤差</a:t>
            </a:r>
            <a:endParaRPr lang="en-US" altLang="ja-JP" sz="2000">
              <a:latin typeface="+mn-ea"/>
            </a:endParaRPr>
          </a:p>
        </p:txBody>
      </p:sp>
      <p:sp>
        <p:nvSpPr>
          <p:cNvPr id="31" name="TextBox 12">
            <a:extLst>
              <a:ext uri="{FF2B5EF4-FFF2-40B4-BE49-F238E27FC236}">
                <a16:creationId xmlns:a16="http://schemas.microsoft.com/office/drawing/2014/main" id="{E0C161A1-6C35-AF2D-7647-7EC2DEC9A289}"/>
              </a:ext>
            </a:extLst>
          </p:cNvPr>
          <p:cNvSpPr txBox="1"/>
          <p:nvPr/>
        </p:nvSpPr>
        <p:spPr>
          <a:xfrm>
            <a:off x="6937061" y="4271041"/>
            <a:ext cx="922200" cy="400110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2000">
                <a:latin typeface="+mn-ea"/>
              </a:rPr>
              <a:t>誤差</a:t>
            </a:r>
            <a:endParaRPr lang="en-US" altLang="ja-JP" sz="2000">
              <a:latin typeface="+mn-ea"/>
            </a:endParaRPr>
          </a:p>
        </p:txBody>
      </p:sp>
      <p:sp>
        <p:nvSpPr>
          <p:cNvPr id="32" name="TextBox 12">
            <a:extLst>
              <a:ext uri="{FF2B5EF4-FFF2-40B4-BE49-F238E27FC236}">
                <a16:creationId xmlns:a16="http://schemas.microsoft.com/office/drawing/2014/main" id="{CBB7B6BE-DE11-D659-70AF-0674BB10FECA}"/>
              </a:ext>
            </a:extLst>
          </p:cNvPr>
          <p:cNvSpPr txBox="1"/>
          <p:nvPr/>
        </p:nvSpPr>
        <p:spPr>
          <a:xfrm>
            <a:off x="4349310" y="2561878"/>
            <a:ext cx="4011510" cy="400110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2000">
                <a:latin typeface="+mn-ea"/>
              </a:rPr>
              <a:t>←Arduino</a:t>
            </a:r>
            <a:r>
              <a:rPr lang="ja-JP" altLang="en-US" sz="2000">
                <a:latin typeface="+mn-ea"/>
              </a:rPr>
              <a:t>からテンポ受信</a:t>
            </a:r>
            <a:r>
              <a:rPr lang="en-US" altLang="ja-JP" sz="2000">
                <a:latin typeface="+mn-ea"/>
              </a:rPr>
              <a:t>(BPM=66)</a:t>
            </a:r>
          </a:p>
        </p:txBody>
      </p:sp>
    </p:spTree>
    <p:extLst>
      <p:ext uri="{BB962C8B-B14F-4D97-AF65-F5344CB8AC3E}">
        <p14:creationId xmlns:p14="http://schemas.microsoft.com/office/powerpoint/2010/main" val="1579836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5685</TotalTime>
  <Words>397</Words>
  <Application>Microsoft Macintosh PowerPoint</Application>
  <PresentationFormat>ワイド画面</PresentationFormat>
  <Paragraphs>119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MS PGothic</vt:lpstr>
      <vt:lpstr>MS PGothic</vt:lpstr>
      <vt:lpstr>Yu Gothic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川瀬　瑠音</cp:lastModifiedBy>
  <cp:revision>2</cp:revision>
  <dcterms:created xsi:type="dcterms:W3CDTF">2013-01-27T09:14:16Z</dcterms:created>
  <dcterms:modified xsi:type="dcterms:W3CDTF">2026-07-12T13:38:59Z</dcterms:modified>
  <cp:category/>
</cp:coreProperties>
</file>