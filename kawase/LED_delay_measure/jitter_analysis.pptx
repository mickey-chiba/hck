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latin typeface="Yu Gothic"/>
                <a:ea typeface="Yu Gothic"/>
              </a:rPr>
              <a:t>LED 遅延（ジッタ）計測結果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latin typeface="Yu Gothic"/>
                <a:ea typeface="Yu Gothic"/>
              </a:rPr>
              <a:t>BPM 同期 LED の点灯タイミング誤差の分析</a:t>
            </a:r>
          </a:p>
          <a:p>
            <a:r>
              <a:rPr sz="1600" b="0">
                <a:latin typeface="Yu Gothic"/>
                <a:ea typeface="Yu Gothic"/>
              </a:rPr>
              <a:t>データ: jitter_log_*.csv 計 1,544 拍（2026-07-07〜07-08）</a:t>
            </a:r>
          </a:p>
          <a:p>
            <a:r>
              <a:rPr sz="1600" b="0">
                <a:latin typeface="Yu Gothic"/>
                <a:ea typeface="Yu Gothic"/>
              </a:rPr>
              <a:t>計測環境: Processing（draw() 60fps）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latin typeface="Yu Gothic"/>
                <a:ea typeface="Yu Gothic"/>
              </a:rPr>
              <a:t>全体サマリー（全 BPM 合計）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463040" y="1371600"/>
          <a:ext cx="9144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45720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指標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値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latin typeface="Yu Gothic"/>
                          <a:ea typeface="Yu Gothic"/>
                        </a:rPr>
                        <a:t>サンプル数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Yu Gothic"/>
                          <a:ea typeface="Yu Gothic"/>
                        </a:rPr>
                        <a:t>1,544 拍（17 ファイル）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latin typeface="Yu Gothic"/>
                          <a:ea typeface="Yu Gothic"/>
                        </a:rPr>
                        <a:t>平均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Yu Gothic"/>
                          <a:ea typeface="Yu Gothic"/>
                        </a:rPr>
                        <a:t>+7.6 ms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latin typeface="Yu Gothic"/>
                          <a:ea typeface="Yu Gothic"/>
                        </a:rPr>
                        <a:t>標準偏差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Yu Gothic"/>
                          <a:ea typeface="Yu Gothic"/>
                        </a:rPr>
                        <a:t>3.1 ms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latin typeface="Yu Gothic"/>
                          <a:ea typeface="Yu Gothic"/>
                        </a:rPr>
                        <a:t>最小 / 最大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Yu Gothic"/>
                          <a:ea typeface="Yu Gothic"/>
                        </a:rPr>
                        <a:t>0 ms / +20 ms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latin typeface="Yu Gothic"/>
                          <a:ea typeface="Yu Gothic"/>
                        </a:rPr>
                        <a:t>95 パーセンタイル（絶対値）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Yu Gothic"/>
                          <a:ea typeface="Yu Gothic"/>
                        </a:rPr>
                        <a:t>12 ms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463040" y="512064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latin typeface="Yu Gothic"/>
                <a:ea typeface="Yu Gothic"/>
              </a:rPr>
              <a:t>・負のジッタ（早く点灯）は 0 件 — ズレは常に遅れ方向</a:t>
            </a:r>
          </a:p>
          <a:p>
            <a:r>
              <a:rPr sz="1600" b="0">
                <a:latin typeface="Yu Gothic"/>
                <a:ea typeface="Yu Gothic"/>
              </a:rPr>
              <a:t>・約 70% が 6〜10 ms に集中。同期ズレの知覚閾値（20〜30 ms）未満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latin typeface="Yu Gothic"/>
                <a:ea typeface="Yu Gothic"/>
              </a:rPr>
              <a:t>BPM 別統計 と 60fps 量子化の理論値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4300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拍間隔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拍数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平均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標準偏差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最大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p95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理論値*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latin typeface="Yu Gothic"/>
                          <a:ea typeface="Yu Gothic"/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1500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+2.5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2.2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0.0 ms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latin typeface="Yu Gothic"/>
                          <a:ea typeface="Yu Gothic"/>
                        </a:rP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1132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+3.4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3.5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16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1.3 ms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latin typeface="Yu Gothic"/>
                          <a:ea typeface="Yu Gothic"/>
                        </a:rP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1000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+4.0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4.5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20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16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0.0 ms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latin typeface="Yu Gothic"/>
                          <a:ea typeface="Yu Gothic"/>
                        </a:rP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909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1,201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+8.6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2.1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17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12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7.7 ms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latin typeface="Yu Gothic"/>
                          <a:ea typeface="Yu Gothic"/>
                        </a:rPr>
                        <a:t>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759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+8.2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1.7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15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7.7 ms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latin typeface="Yu Gothic"/>
                          <a:ea typeface="Yu Gothic"/>
                        </a:rP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750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+1.5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0.5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0.0 ms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latin typeface="Yu Gothic"/>
                          <a:ea typeface="Yu Gothic"/>
                        </a:rP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600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+1.6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2.2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0.0 ms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latin typeface="Yu Gothic"/>
                          <a:ea typeface="Yu Gothic"/>
                        </a:rP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582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+2.0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1.3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latin typeface="Yu Gothic"/>
                          <a:ea typeface="Yu Gothic"/>
                        </a:rPr>
                        <a:t>1.3 ms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latin typeface="Yu Gothic"/>
                <a:ea typeface="Yu Gothic"/>
              </a:rPr>
              <a:t>* 理論値 = 拍間隔を 16.7 ms（60fps のフレーム周期）で割った余りから予測されるジッタ</a:t>
            </a:r>
          </a:p>
          <a:p>
            <a:r>
              <a:rPr sz="1600" b="1">
                <a:latin typeface="Yu Gothic"/>
                <a:ea typeface="Yu Gothic"/>
              </a:rPr>
              <a:t>全 BPM で実測平均が理論値 +1〜4 ms に一致 → 誤差の主因は draw() の 60fps 量子化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latin typeface="Yu Gothic"/>
                <a:ea typeface="Yu Gothic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latin typeface="Yu Gothic"/>
                <a:ea typeface="Yu Gothic"/>
              </a:rPr>
              <a:t>1 拍ごとのズレは 0〜20 ms・95% は 12 ms 以内 — 知覚閾値（20〜30 ms）未満</a:t>
            </a:r>
          </a:p>
          <a:p>
            <a:r>
              <a:rPr sz="1800" b="0">
                <a:latin typeface="Yu Gothic"/>
                <a:ea typeface="Yu Gothic"/>
              </a:rPr>
              <a:t>ズレは全件が遅れ方向で、BPM 別平均は理論値と一致 — 原因は draw() の 60fps 量子化</a:t>
            </a:r>
          </a:p>
          <a:p>
            <a:r>
              <a:rPr sz="1800" b="0">
                <a:latin typeface="Yu Gothic"/>
                <a:ea typeface="Yu Gothic"/>
              </a:rPr>
              <a:t>測定環境（Processing）由来の誤差であり、loop() が高速に回る実機 Arduino の LED はこれより正確</a:t>
            </a:r>
          </a:p>
          <a:p>
            <a:r>
              <a:rPr sz="1800" b="0">
                <a:latin typeface="Yu Gothic"/>
                <a:ea typeface="Yu Gothic"/>
              </a:rPr>
              <a:t>注意: ドリフト型更新のため遅れは毎拍累積する（BPM 66 で 1 分あたり約 0.5 秒）</a:t>
            </a:r>
          </a:p>
          <a:p>
            <a:r>
              <a:rPr sz="1000" b="0">
                <a:latin typeface="Yu Gothic"/>
                <a:ea typeface="Yu Gothic"/>
              </a:rPr>
              <a:t/>
            </a:r>
          </a:p>
          <a:p>
            <a:r>
              <a:rPr sz="1800" b="1">
                <a:latin typeface="Yu Gothic"/>
                <a:ea typeface="Yu Gothic"/>
              </a:rPr>
              <a:t>改善案</a:t>
            </a:r>
          </a:p>
          <a:p>
            <a:r>
              <a:rPr sz="1600" b="0">
                <a:latin typeface="Yu Gothic"/>
                <a:ea typeface="Yu Gothic"/>
              </a:rPr>
              <a:t>① 実 LED も理想時刻基準（prevMillis += interval）で更新 → 累積を根本解消</a:t>
            </a:r>
          </a:p>
          <a:p>
            <a:r>
              <a:rPr sz="1600" b="0">
                <a:latin typeface="Yu Gothic"/>
                <a:ea typeface="Yu Gothic"/>
              </a:rPr>
              <a:t>② frameRate(240) を指定 → 時間分解能 16.7 ms → 4.2 ms（単発・累積とも約 1/4）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